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45720" cy="514350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FF6B2B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223760" y="2560320"/>
            <a:ext cx="2286000" cy="2286000"/>
          </a:xfrm>
          <a:prstGeom prst="ellipse">
            <a:avLst/>
          </a:prstGeom>
          <a:solidFill>
            <a:srgbClr val="00B4A6">
              <a:alpha val="2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640080"/>
            <a:ext cx="1097280" cy="1097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54864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AI-POWERED KIRANA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02920" y="1234440"/>
            <a:ext cx="7132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100" kern="0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CASH FLOW UNDERWRITING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02920" y="1874520"/>
            <a:ext cx="3200400" cy="36576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" y="201168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+ Geo Intelligence • No Bank Statements Required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Cash Flow from Smartphone Images in 45 Seconds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02920" y="3291840"/>
            <a:ext cx="1920240" cy="1280160"/>
          </a:xfrm>
          <a:prstGeom prst="rect">
            <a:avLst/>
          </a:prstGeom>
          <a:solidFill>
            <a:srgbClr val="1020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2920" y="3291840"/>
            <a:ext cx="1920240" cy="73152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" y="34290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13M+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502920" y="40050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Kirana Stores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651760" y="3291840"/>
            <a:ext cx="1920240" cy="1280160"/>
          </a:xfrm>
          <a:prstGeom prst="rect">
            <a:avLst/>
          </a:prstGeom>
          <a:solidFill>
            <a:srgbClr val="1020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651760" y="3291840"/>
            <a:ext cx="1920240" cy="73152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17" name="Text 14"/>
          <p:cNvSpPr/>
          <p:nvPr/>
        </p:nvSpPr>
        <p:spPr>
          <a:xfrm>
            <a:off x="2651760" y="34290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45s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2651760" y="40050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Time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800600" y="3291840"/>
            <a:ext cx="1920240" cy="1280160"/>
          </a:xfrm>
          <a:prstGeom prst="rect">
            <a:avLst/>
          </a:prstGeom>
          <a:solidFill>
            <a:srgbClr val="1020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800600" y="3291840"/>
            <a:ext cx="1920240" cy="73152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21" name="Text 18"/>
          <p:cNvSpPr/>
          <p:nvPr/>
        </p:nvSpPr>
        <p:spPr>
          <a:xfrm>
            <a:off x="4800600" y="34290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₹50-150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4800600" y="40050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Case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949440" y="3291840"/>
            <a:ext cx="1920240" cy="1280160"/>
          </a:xfrm>
          <a:prstGeom prst="rect">
            <a:avLst/>
          </a:prstGeom>
          <a:solidFill>
            <a:srgbClr val="1020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949440" y="3291840"/>
            <a:ext cx="1920240" cy="73152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25" name="Text 22"/>
          <p:cNvSpPr/>
          <p:nvPr/>
        </p:nvSpPr>
        <p:spPr>
          <a:xfrm>
            <a:off x="6949440" y="34290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6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85%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6949440" y="40050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02920" y="46634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Poonawalla Fincorp Hackathon — Problem Statement 4C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02920" y="48646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Kesani Sai Charan  •  Neetha Brahmani  •  Mitali Saxena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13 Million Kirana Stores Remain Unfinanceable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743200" cy="347472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972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6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13M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KIRANA STORES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India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788920"/>
            <a:ext cx="2468880" cy="36576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92608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India's retail economy — yet largely unfinanceable through traditional credit.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960120"/>
            <a:ext cx="54864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960120"/>
            <a:ext cx="73152" cy="1051560"/>
          </a:xfrm>
          <a:prstGeom prst="rect">
            <a:avLst/>
          </a:prstGeom>
          <a:solidFill>
            <a:srgbClr val="FF6B2B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47872" y="1216152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114800" y="1051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Financial Records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114800" y="143560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ITRs, no GST history, no audited accounts. Cash is king.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383280" y="2121408"/>
            <a:ext cx="54864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383280" y="2121408"/>
            <a:ext cx="73152" cy="1051560"/>
          </a:xfrm>
          <a:prstGeom prst="rect">
            <a:avLst/>
          </a:prstGeom>
          <a:solidFill>
            <a:srgbClr val="FF6B2B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872" y="237744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114800" y="221284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Visits Are Broken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114800" y="259689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₹800-1,500 per case. Officers disagree by 30-50% on same store.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3383280" y="3282696"/>
            <a:ext cx="54864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383280" y="3282696"/>
            <a:ext cx="73152" cy="1051560"/>
          </a:xfrm>
          <a:prstGeom prst="rect">
            <a:avLst/>
          </a:prstGeom>
          <a:solidFill>
            <a:srgbClr val="FF6B2B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7872" y="3538728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114800" y="337413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Massive Fraud Risk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114800" y="375818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Borrowers can temporarily stock shelves before officer visits.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6" name="Text 21"/>
          <p:cNvSpPr/>
          <p:nvPr/>
        </p:nvSpPr>
        <p:spPr>
          <a:xfrm>
            <a:off x="36576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underwriting fails at scale — there is a better way.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Insight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kirana store's cash flow = Working Capital (inventory) × Demand Potential (location).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can be partially observed — inventory through photos, demand through GPS &amp; geo-intelligence.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2651760" cy="2560320"/>
          </a:xfrm>
          <a:prstGeom prst="rect">
            <a:avLst/>
          </a:prstGeom>
          <a:solidFill>
            <a:srgbClr val="1020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331720"/>
            <a:ext cx="2651760" cy="54864"/>
          </a:xfrm>
          <a:prstGeom prst="rect">
            <a:avLst/>
          </a:prstGeom>
          <a:solidFill>
            <a:srgbClr val="FF6B2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46888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31089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Vision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35661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 Density Index (SDI)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 Diversity Score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Value Approx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Footprint Estimate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46120" y="2331720"/>
            <a:ext cx="2651760" cy="2560320"/>
          </a:xfrm>
          <a:prstGeom prst="rect">
            <a:avLst/>
          </a:prstGeom>
          <a:solidFill>
            <a:srgbClr val="1020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2331720"/>
            <a:ext cx="2651760" cy="54864"/>
          </a:xfrm>
          <a:prstGeom prst="rect">
            <a:avLst/>
          </a:prstGeom>
          <a:solidFill>
            <a:srgbClr val="00B4A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246888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37560" y="31089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Geo-Spatial Intelligence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383280" y="35661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Catchment Density Score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Footfall Proxy Index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Analysis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Tier (1-4)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26480" y="2331720"/>
            <a:ext cx="2651760" cy="2560320"/>
          </a:xfrm>
          <a:prstGeom prst="rect">
            <a:avLst/>
          </a:prstGeom>
          <a:solidFill>
            <a:srgbClr val="1020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2331720"/>
            <a:ext cx="2651760" cy="54864"/>
          </a:xfrm>
          <a:prstGeom prst="rect">
            <a:avLst/>
          </a:prstGeom>
          <a:solidFill>
            <a:srgbClr val="A78BF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468880"/>
            <a:ext cx="548640" cy="5486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17920" y="31089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Fusion Engine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263640" y="356616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Revenue Range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 (0-1)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Credit Decision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2926080" y="34747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8EA8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5806440" y="3474720"/>
            <a:ext cx="228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8EA8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365760" y="47548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Smartphone Photos + GPS Coordinates — No Bank Statements, No Field Visits Required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548640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6984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978408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QC &amp; Ingestion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261872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720p+ validation, blur detection, coverage check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97680" y="1600200"/>
            <a:ext cx="457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EA8"/>
                </a:solidFill>
              </a:rPr>
              <a:t>↓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709928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709928"/>
            <a:ext cx="548640" cy="685800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86537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1773936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Intelligence Engine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057400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object detection, MobileNet-V3 segmentation, MiDaS depth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97680" y="2395728"/>
            <a:ext cx="457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EA8"/>
                </a:solidFill>
              </a:rPr>
              <a:t>↓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505456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505456"/>
            <a:ext cx="548640" cy="68580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660904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2569464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Geo-Spatial Engine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2852928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Places API, OpenStreetMap POIs, catchment radius analysis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297680" y="3191256"/>
            <a:ext cx="457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EA8"/>
                </a:solidFill>
              </a:rPr>
              <a:t>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300984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300984"/>
            <a:ext cx="548640" cy="6858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345643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3364992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Fusion &amp; Cash Flow Estimation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1560" y="3648456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Econometric model: Revenue = BaseTier × SDI × SKU × CompAdj × SizeAdj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297680" y="3986784"/>
            <a:ext cx="4572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EA8"/>
                </a:solidFill>
              </a:rPr>
              <a:t>↓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4096512"/>
            <a:ext cx="548640" cy="685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2519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51560" y="4160520"/>
            <a:ext cx="3474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Detection &amp; Risk Overlay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51560" y="4443984"/>
            <a:ext cx="7498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Multi-vector cross-validation, anomaly flags, credit decision logic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4864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6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JSON with revenue range, confidence score, fraud flags, recommendation — in &lt; 45 seconds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VISION INTELLIGENCE ENGINE (L2)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4206240" cy="64008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10241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Shelf Density Index (SDI)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200" y="138988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MobileNet-V3-SSD segments occupied vs empty shelf pixels. SDI = proxy for working capital deployed.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81051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85-100%  →  High Capital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24028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240280"/>
            <a:ext cx="4206240" cy="64008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23500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 Diversity Score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271576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detects 12+ FMCG categories. Higher diversity = larger basket size + healthier margin mix.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13639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12+ categories = premium store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56616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566160"/>
            <a:ext cx="4206240" cy="64008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7033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0120" y="367588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Value Approx (IVA)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200" y="404164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products mapped to retail price bands. IVA × turnover ratio = Monthly Sales estimate.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7200" y="446227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IVA × Turnover = Revenue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91440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914400"/>
            <a:ext cx="4206240" cy="64008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10515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440680" y="10241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Refill Signal (Fraud Detector)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937760" y="138988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strategic emptiness = customer activity. Uniformly full + dusty = slow turnover.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37760" y="181051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Borrowed stock flagged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46320" y="2240280"/>
            <a:ext cx="4206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2240280"/>
            <a:ext cx="4206240" cy="64008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2377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440680" y="23500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Footprint Estimate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937760" y="271576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MiDaS monocular depth model estimates floor area from exterior/wide images.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37760" y="3136392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Per sq-ft revenue benchmarked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GEO-SPATIAL INTELLIGENCE ENGINE (L3)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perfectly-stocked store on a deserted lane earns a fraction of one on an arterial road. Location IS half the signal.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Footfall Proxy Scoring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828800"/>
          <a:ext cx="4206240" cy="219456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A16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 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Arterial / Main Road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School / College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 Stand / Metro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 / Commercial Hub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Moderate-High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4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Complex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4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1828800"/>
            <a:ext cx="4206240" cy="347472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865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 Type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304288" y="1865376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063240" y="1865376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754880" y="14173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Tier Revenue Baselines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754880" y="1828800"/>
            <a:ext cx="4114800" cy="685800"/>
          </a:xfrm>
          <a:prstGeom prst="rect">
            <a:avLst/>
          </a:prstGeom>
          <a:solidFill>
            <a:srgbClr val="102040"/>
          </a:solidFill>
          <a:ln/>
        </p:spPr>
      </p:sp>
      <p:sp>
        <p:nvSpPr>
          <p:cNvPr id="13" name="Shape 10"/>
          <p:cNvSpPr/>
          <p:nvPr/>
        </p:nvSpPr>
        <p:spPr>
          <a:xfrm>
            <a:off x="4754880" y="1828800"/>
            <a:ext cx="54864" cy="685800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14" name="Text 11"/>
          <p:cNvSpPr/>
          <p:nvPr/>
        </p:nvSpPr>
        <p:spPr>
          <a:xfrm>
            <a:off x="4892040" y="1901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Tier 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92040" y="21945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Urban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92240" y="19019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Daily: ₹12k–25k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492240" y="21945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Monthly: ₹3.6L–7.5L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754880" y="2606040"/>
            <a:ext cx="4114800" cy="685800"/>
          </a:xfrm>
          <a:prstGeom prst="rect">
            <a:avLst/>
          </a:prstGeom>
          <a:solidFill>
            <a:srgbClr val="102040"/>
          </a:solidFill>
          <a:ln/>
        </p:spPr>
      </p:sp>
      <p:sp>
        <p:nvSpPr>
          <p:cNvPr id="19" name="Shape 16"/>
          <p:cNvSpPr/>
          <p:nvPr/>
        </p:nvSpPr>
        <p:spPr>
          <a:xfrm>
            <a:off x="4754880" y="2606040"/>
            <a:ext cx="54864" cy="68580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20" name="Text 17"/>
          <p:cNvSpPr/>
          <p:nvPr/>
        </p:nvSpPr>
        <p:spPr>
          <a:xfrm>
            <a:off x="4892040" y="26791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Tier 2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892040" y="29718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Residential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492240" y="26791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Daily: ₹6k–12k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492240" y="29718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Monthly: ₹1.8L–3.6L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754880" y="3383280"/>
            <a:ext cx="4114800" cy="685800"/>
          </a:xfrm>
          <a:prstGeom prst="rect">
            <a:avLst/>
          </a:prstGeom>
          <a:solidFill>
            <a:srgbClr val="102040"/>
          </a:solidFill>
          <a:ln/>
        </p:spPr>
      </p:sp>
      <p:sp>
        <p:nvSpPr>
          <p:cNvPr id="25" name="Shape 22"/>
          <p:cNvSpPr/>
          <p:nvPr/>
        </p:nvSpPr>
        <p:spPr>
          <a:xfrm>
            <a:off x="4754880" y="3383280"/>
            <a:ext cx="54864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3"/>
          <p:cNvSpPr/>
          <p:nvPr/>
        </p:nvSpPr>
        <p:spPr>
          <a:xfrm>
            <a:off x="4892040" y="345643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Tier 3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4892040" y="37490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Semi-Urban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492240" y="345643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Daily: ₹3k–6k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492240" y="37490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Monthly: ₹0.9L–1.8L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4754880" y="4160520"/>
            <a:ext cx="4114800" cy="685800"/>
          </a:xfrm>
          <a:prstGeom prst="rect">
            <a:avLst/>
          </a:prstGeom>
          <a:solidFill>
            <a:srgbClr val="102040"/>
          </a:solidFill>
          <a:ln/>
        </p:spPr>
      </p:sp>
      <p:sp>
        <p:nvSpPr>
          <p:cNvPr id="31" name="Shape 28"/>
          <p:cNvSpPr/>
          <p:nvPr/>
        </p:nvSpPr>
        <p:spPr>
          <a:xfrm>
            <a:off x="4754880" y="4160520"/>
            <a:ext cx="54864" cy="68580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32" name="Text 29"/>
          <p:cNvSpPr/>
          <p:nvPr/>
        </p:nvSpPr>
        <p:spPr>
          <a:xfrm>
            <a:off x="4892040" y="423367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Tier 4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892040" y="45262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/ Isolated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492240" y="42336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Daily: ₹1.5k–3k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6492240" y="452628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Monthly: ₹0.45L–0.9L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Factor: 0–1 stores → 1.05x  |  2–5 → 1.00x  |  6–10 → 0.85x  |  10+ → 0.70x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FUSION &amp; ESTIMATION ENGINE (L4)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82296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875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 Revenue  =  BaseRevenue(Tier)  ×  SDI_adj  ×  SKU_adj  ×  CompAdj  ×  SizeAdj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828800"/>
          <a:ext cx="8412480" cy="18288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53949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BaseRevenue(Tier)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 Range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Location-anchored baseline from Tier 1–4 classification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SDI_adj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 – 1.2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fullness adjusts revenue up/down from 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SKU_adj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 – 1.3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diversity = broader basket + higher gross margin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CompAdj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 – 1.05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Competitive landscape modifies capturable market share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SizeAdj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 – 1.4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Floor area relative to average store size in same 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1828800"/>
            <a:ext cx="8412480" cy="384048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89280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212848" y="189280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419856" y="1892808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Justification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3794760"/>
            <a:ext cx="4023360" cy="1143000"/>
          </a:xfrm>
          <a:prstGeom prst="rect">
            <a:avLst/>
          </a:prstGeom>
          <a:solidFill>
            <a:srgbClr val="0A162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02920" y="38587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Score (0–1)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2920" y="418795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Quality (30%) + Signal Consistency (30%)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Geo Richness (25%) + Optional Inputs (15%)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663440" y="3794760"/>
            <a:ext cx="4114800" cy="1143000"/>
          </a:xfrm>
          <a:prstGeom prst="rect">
            <a:avLst/>
          </a:prstGeom>
          <a:solidFill>
            <a:srgbClr val="FF6B2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800600" y="38587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Output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800600" y="4187952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0.74 → ₹2,25,000 ± 15%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Range: ₹1,87,000 – ₹2,53,000/month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FRAUD DETECTION &amp; RISK OVERLAY (L5)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Vector Detection Matrix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685800"/>
          </a:xfrm>
          <a:prstGeom prst="rect">
            <a:avLst/>
          </a:prstGeom>
          <a:solidFill>
            <a:srgbClr val="102040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325880"/>
            <a:ext cx="64008" cy="685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99032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Temporary Overstocking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0" y="139903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Brand mixing anomaly; atypical shelf layout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309360" y="139903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Inventory anomaly flag; -20% confidence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8412480" cy="685800"/>
          </a:xfrm>
          <a:prstGeom prst="rect">
            <a:avLst/>
          </a:prstGeom>
          <a:solidFill>
            <a:srgbClr val="102040"/>
          </a:solidFill>
          <a:ln/>
        </p:spPr>
      </p:sp>
      <p:sp>
        <p:nvSpPr>
          <p:cNvPr id="11" name="Shape 9"/>
          <p:cNvSpPr/>
          <p:nvPr/>
        </p:nvSpPr>
        <p:spPr>
          <a:xfrm>
            <a:off x="365760" y="2103120"/>
            <a:ext cx="64008" cy="685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176272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 Photography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217627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Coverage score &lt; 60%; missing mandatory zones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09360" y="217627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Block processing; request re-upload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880360"/>
            <a:ext cx="8412480" cy="685800"/>
          </a:xfrm>
          <a:prstGeom prst="rect">
            <a:avLst/>
          </a:prstGeom>
          <a:solidFill>
            <a:srgbClr val="102040"/>
          </a:solidFill>
          <a:ln/>
        </p:spPr>
      </p:sp>
      <p:sp>
        <p:nvSpPr>
          <p:cNvPr id="16" name="Shape 14"/>
          <p:cNvSpPr/>
          <p:nvPr/>
        </p:nvSpPr>
        <p:spPr>
          <a:xfrm>
            <a:off x="365760" y="2880360"/>
            <a:ext cx="64008" cy="685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953512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Inventory-Location Mismatch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0" y="295351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High SDI in Tier 4; IVA exceeds tier ceiling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09360" y="295351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Cap estimate at tier ceiling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657600"/>
            <a:ext cx="8412480" cy="685800"/>
          </a:xfrm>
          <a:prstGeom prst="rect">
            <a:avLst/>
          </a:prstGeom>
          <a:solidFill>
            <a:srgbClr val="102040"/>
          </a:solidFill>
          <a:ln/>
        </p:spPr>
      </p:sp>
      <p:sp>
        <p:nvSpPr>
          <p:cNvPr id="21" name="Shape 19"/>
          <p:cNvSpPr/>
          <p:nvPr/>
        </p:nvSpPr>
        <p:spPr>
          <a:xfrm>
            <a:off x="365760" y="3657600"/>
            <a:ext cx="64008" cy="685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730752"/>
            <a:ext cx="25603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Spoofing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0" y="373075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Scene classification vs claimed GPS street type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09360" y="3730752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Cross-validation; flag for review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" y="4434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Decision Logic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4754880"/>
            <a:ext cx="2743200" cy="320040"/>
          </a:xfrm>
          <a:prstGeom prst="rect">
            <a:avLst/>
          </a:prstGeom>
          <a:solidFill>
            <a:srgbClr val="22C55E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7640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&gt;0.70, No Flags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783080" y="47640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PRE-APPROVE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46120" y="4754880"/>
            <a:ext cx="2743200" cy="320040"/>
          </a:xfrm>
          <a:prstGeom prst="rect">
            <a:avLst/>
          </a:prstGeom>
          <a:solidFill>
            <a:srgbClr val="FF6B2B">
              <a:alpha val="2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3337560" y="47640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0.50–0.70, Minor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663440" y="47640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VERIFY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26480" y="4754880"/>
            <a:ext cx="2743200" cy="320040"/>
          </a:xfrm>
          <a:prstGeom prst="rect">
            <a:avLst/>
          </a:prstGeom>
          <a:solidFill>
            <a:srgbClr val="EF4444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0" y="47640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&lt;0.50 or Critical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543800" y="47640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REJECT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 STACK &amp; EXECUTION ROADMAP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0116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2011680" cy="54864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Vision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(Ultralytics)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MobileNet-V3-SSD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MiDaS Depth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EasyOCR / TrOCR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60320" y="914400"/>
            <a:ext cx="20116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0" y="914400"/>
            <a:ext cx="2011680" cy="54864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10" name="Text 8"/>
          <p:cNvSpPr/>
          <p:nvPr/>
        </p:nvSpPr>
        <p:spPr>
          <a:xfrm>
            <a:off x="2651760" y="1005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Geo-Spatial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1371600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Places API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OpenStreetMap/Overpass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 Way Tags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WorldPop Census Grid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914400"/>
            <a:ext cx="20116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914400"/>
            <a:ext cx="2011680" cy="54864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005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371600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+ Redis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+ RabbitMQ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949440" y="914400"/>
            <a:ext cx="20116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49440" y="914400"/>
            <a:ext cx="2011680" cy="54864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1005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040880" y="1371600"/>
            <a:ext cx="1828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(iOS + Android)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Image Capture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Integration</a:t>
            </a:r>
            <a:endParaRPr lang="en-US" sz="105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050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Sync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3035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16-Week Execution Roadmap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3474720"/>
            <a:ext cx="20116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474720"/>
            <a:ext cx="201168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566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554480" y="358444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1-3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8862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collection, labeling, baseline models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560320" y="3474720"/>
            <a:ext cx="20116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560320" y="3474720"/>
            <a:ext cx="2011680" cy="54864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28" name="Text 26"/>
          <p:cNvSpPr/>
          <p:nvPr/>
        </p:nvSpPr>
        <p:spPr>
          <a:xfrm>
            <a:off x="2651760" y="3566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A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749040" y="358444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4-7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651760" y="38862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vision pipeline, fusion model v1, API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3474720"/>
            <a:ext cx="20116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474720"/>
            <a:ext cx="2011680" cy="54864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33" name="Text 31"/>
          <p:cNvSpPr/>
          <p:nvPr/>
        </p:nvSpPr>
        <p:spPr>
          <a:xfrm>
            <a:off x="4846320" y="3566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943600" y="358444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8-11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46320" y="38862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detection, Flutter app, API hardening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949440" y="3474720"/>
            <a:ext cx="20116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949440" y="3474720"/>
            <a:ext cx="201168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8" name="Text 36"/>
          <p:cNvSpPr/>
          <p:nvPr/>
        </p:nvSpPr>
        <p:spPr>
          <a:xfrm>
            <a:off x="7040880" y="3566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4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138160" y="358444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12-16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040880" y="388620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100-store pilot, NBFC integration, calibration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7A8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MAPE &lt; 25% on ground-truth surveys  |  Processing: &lt; 45s  |  500+ concurrent assessments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IMPACT &amp; STRATEGIC VISION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vs AI-Powered Underwriting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71600"/>
          <a:ext cx="8412480" cy="2011680"/>
        </p:xfrm>
        <a:graphic>
          <a:graphicData uri="http://schemas.openxmlformats.org/drawingml/2006/table">
            <a:tbl>
              <a:tblPr/>
              <a:tblGrid>
                <a:gridCol w="2286000"/>
                <a:gridCol w="3063240"/>
                <a:gridCol w="30632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per Case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₹800 – ₹1,500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₹50 – ₹150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Turnaround 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– 3 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 minutes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Capacity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5–10 per officer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500+ concurrent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Subjective (30-50% variance)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Model-standardized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4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Detection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– 50%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AABB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 – 85% (target)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5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04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1371600"/>
            <a:ext cx="8412480" cy="402336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43560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0" y="14356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Process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24728" y="14356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This System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367528" y="1773936"/>
            <a:ext cx="3410712" cy="402336"/>
          </a:xfrm>
          <a:prstGeom prst="rect">
            <a:avLst/>
          </a:prstGeom>
          <a:solidFill>
            <a:srgbClr val="FF6B2B">
              <a:alpha val="12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367528" y="2176272"/>
            <a:ext cx="3410712" cy="402336"/>
          </a:xfrm>
          <a:prstGeom prst="rect">
            <a:avLst/>
          </a:prstGeom>
          <a:solidFill>
            <a:srgbClr val="FF6B2B">
              <a:alpha val="12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5367528" y="2578608"/>
            <a:ext cx="3410712" cy="402336"/>
          </a:xfrm>
          <a:prstGeom prst="rect">
            <a:avLst/>
          </a:prstGeom>
          <a:solidFill>
            <a:srgbClr val="FF6B2B">
              <a:alpha val="12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367528" y="2980944"/>
            <a:ext cx="3410712" cy="402336"/>
          </a:xfrm>
          <a:prstGeom prst="rect">
            <a:avLst/>
          </a:prstGeom>
          <a:solidFill>
            <a:srgbClr val="FF6B2B">
              <a:alpha val="12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5367528" y="3383280"/>
            <a:ext cx="3410712" cy="402336"/>
          </a:xfrm>
          <a:prstGeom prst="rect">
            <a:avLst/>
          </a:prstGeom>
          <a:solidFill>
            <a:srgbClr val="FF6B2B">
              <a:alpha val="12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365760" y="3520440"/>
            <a:ext cx="8412480" cy="1234440"/>
          </a:xfrm>
          <a:prstGeom prst="rect">
            <a:avLst/>
          </a:prstGeom>
          <a:solidFill>
            <a:srgbClr val="0A224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" y="3520440"/>
            <a:ext cx="8412480" cy="64008"/>
          </a:xfrm>
          <a:prstGeom prst="rect">
            <a:avLst/>
          </a:prstGeom>
          <a:solidFill>
            <a:srgbClr val="FF6B2B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6118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Bigger Vision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48640" y="39776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just an underwriting tool — it is the foundation of a Credit Bureau for the Physical World.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system processes thousands of stores, it builds India's first geo-visual database of kirana health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cash flow patterns — enabling FMCG financing, inventory credit, and working capital optimization at national scale.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6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Scale.  Designed for Trust.  Grounded in Economics.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Kirana Underwriting</dc:title>
  <dc:subject>PptxGenJS Presentation</dc:subject>
  <dc:creator>PptxGenJS</dc:creator>
  <cp:lastModifiedBy>PptxGenJS</cp:lastModifiedBy>
  <cp:revision>1</cp:revision>
  <dcterms:created xsi:type="dcterms:W3CDTF">2026-05-01T06:25:55Z</dcterms:created>
  <dcterms:modified xsi:type="dcterms:W3CDTF">2026-05-01T06:25:55Z</dcterms:modified>
</cp:coreProperties>
</file>